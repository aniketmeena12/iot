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IoT-Powered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9AF0"/>
                </a:solidFill>
                <a:latin typeface="Calibri"/>
              </a:defRPr>
            </a:pPr>
            <a:r>
              <a:t>OEE Measurement  •  Supply Chain Automation  •  Real-Time Goods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Calibri"/>
              </a:defRPr>
            </a:pPr>
            <a:r>
              <a:t>Transforming Production Visibility with Real-Time Data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5486400"/>
            <a:ext cx="4876495" cy="254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Confidential  |  Prepared for Client Review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640080" cy="384048"/>
          </a:xfrm>
          <a:prstGeom prst="round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The Challenge — Why OEE &amp; Supply Chain Visibility Matter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640080" cy="38404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Our Solution — IoT-Powered Real-Time OEE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64008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68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Live Dashboard Demo — Production Machine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640080" cy="384048"/>
          </a:xfrm>
          <a:prstGeom prst="round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71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OEE Deep Dive — Availability, Performance, Quality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640080" cy="38404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74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Supply Chain Management &amp; Communication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40"/>
            <a:ext cx="64008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77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Automated Tracking of Goods — End to 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60"/>
            <a:ext cx="640080" cy="384048"/>
          </a:xfrm>
          <a:prstGeom prst="round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480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System Architecture &amp; Technology 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83480"/>
            <a:ext cx="640080" cy="38404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83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ROI &amp; Business Impact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86400"/>
            <a:ext cx="64008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86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989320"/>
            <a:ext cx="640080" cy="384048"/>
          </a:xfrm>
          <a:prstGeom prst="round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989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3774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  <a:latin typeface="Segoe UI Emoji"/>
              </a:defRPr>
            </a:pPr>
            <a:r>
              <a:t>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Manufacturing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•  No real-time visibility into machine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•  Downtime detected too late — hours of lost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638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•  Manual data collection → errors &amp; delays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112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•  OEE calculated weekly/monthly, not in 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03520" cy="23774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  <a:latin typeface="Segoe UI Emoji"/>
              </a:defRPr>
            </a:pPr>
            <a: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37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Supply Chain &amp; Logistics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•  Goods tracking relies on manual check-ins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16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•  No automated communication between nodes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638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•  Lost/delayed shipments discovered too 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112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•  Siloed data across warehouse, transport,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11247120" cy="20116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545"/>
                </a:solidFill>
                <a:latin typeface="Calibri"/>
              </a:defRPr>
            </a:pPr>
            <a:r>
              <a:t>💰  Business Impact of Inaction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▸  Average manufacturer operates at only 60% OEE — world-class is 85%+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309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▸  Unplanned downtime costs $260K/hour on average (Aberdeen Group)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784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▸  30% of goods in transit lack real-time visibility (McKinsey)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0258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▸  Supply chain disruptions cost companies 45% of one year's profits over a decade (McKinsey)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Solution — IoT-Powered Intelligence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37360" y="1737360"/>
            <a:ext cx="914400" cy="91440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>
                <a:latin typeface="Segoe UI Emoji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Real-Time OEE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Calibri"/>
              </a:defRPr>
            </a:pPr>
            <a:r>
              <a:t>Measure Availability, Performance</a:t>
            </a:r>
            <a:br/>
            <a:r>
              <a:t>&amp; Quality — live, every second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47472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>
                <a:latin typeface="Segoe UI Emoji"/>
              </a:defRPr>
            </a:pPr>
            <a: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Supply Chain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91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Calibri"/>
              </a:defRPr>
            </a:pPr>
            <a:r>
              <a:t>Automated communication between</a:t>
            </a:r>
            <a:br/>
            <a:r>
              <a:t>all supply chain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47472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0" y="173736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>
                <a:latin typeface="Segoe UI Emoji"/>
              </a:defRPr>
            </a:pPr>
            <a: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Goods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91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Calibri"/>
              </a:defRPr>
            </a:pPr>
            <a:r>
              <a:t>End-to-end automated tracking</a:t>
            </a:r>
            <a:br/>
            <a:r>
              <a:t>from production to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11247120" cy="20116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✨  Unified Platform — One Dashboard for Everything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✓  Sensors on machines → real-time pulse data → automatic OEE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76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✓  IoT gateways at each supply chain node → automatic status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241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✓  RFID/BLE/GPS tags on goods → live location tracking on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0716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✓  Automated alerts via SMS, Email, WhatsApp when KPIs breach thresholds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Dashboard — Production Machine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AF0"/>
                </a:solidFill>
                <a:latin typeface="Calibri"/>
              </a:defRPr>
            </a:pPr>
            <a:r>
              <a:t>Live Pulse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Real-time sensor data from production machine</a:t>
            </a:r>
            <a:br/>
            <a:br/>
            <a:r>
              <a:t>Every pulse captured as it happens</a:t>
            </a:r>
            <a:br/>
            <a:r>
              <a:t>Gaps between clusters = material feed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74320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AF0"/>
                </a:solidFill>
                <a:latin typeface="Calibri"/>
              </a:defRPr>
            </a:pPr>
            <a:r>
              <a:t>Avg Pulse Gap</a:t>
            </a:r>
            <a:br/>
            <a:r>
              <a:t>52.8 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371600"/>
            <a:ext cx="246888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AF0"/>
                </a:solidFill>
                <a:latin typeface="Calibri"/>
              </a:defRPr>
            </a:pPr>
            <a:r>
              <a:t>Avg Feed Gap</a:t>
            </a:r>
            <a:br/>
            <a:r>
              <a:t>505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60320"/>
            <a:ext cx="274320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AF0"/>
                </a:solidFill>
                <a:latin typeface="Calibri"/>
              </a:defRPr>
            </a:pPr>
            <a:r>
              <a:t>Products/5min</a:t>
            </a:r>
            <a:br/>
            <a:r>
              <a:t>47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560320"/>
            <a:ext cx="246888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AF0"/>
                </a:solidFill>
                <a:latin typeface="Calibri"/>
              </a:defRPr>
            </a:pPr>
            <a:r>
              <a:t>Total Pulses</a:t>
            </a:r>
            <a:br/>
            <a:r>
              <a:t>534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48640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AF0"/>
                </a:solidFill>
                <a:latin typeface="Calibri"/>
              </a:defRPr>
            </a:pPr>
            <a:r>
              <a:t>Key Metrics Over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348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Trending graph showing:</a:t>
            </a:r>
            <a:br/>
            <a:r>
              <a:t>• Avg Intra-Series Gap</a:t>
            </a:r>
            <a:br/>
            <a:r>
              <a:t>• Avg Inter-Series Gap</a:t>
            </a:r>
            <a:br/>
            <a:r>
              <a:t>• Products Produced</a:t>
            </a:r>
            <a:br/>
            <a:r>
              <a:t>• Total Pulses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48640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AF0"/>
                </a:solidFill>
                <a:latin typeface="Calibri"/>
              </a:defRPr>
            </a:pPr>
            <a:r>
              <a:t>Gap Distribution &amp; 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348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Pulses per product (bar chart)</a:t>
            </a:r>
            <a:br/>
            <a:r>
              <a:t>• All consecutive gaps (line chart)</a:t>
            </a:r>
            <a:br/>
            <a:r>
              <a:t>• Low values = production pulses</a:t>
            </a:r>
            <a:br/>
            <a:r>
              <a:t>• High spikes = material feed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ECC71"/>
                </a:solidFill>
                <a:latin typeface="Calibri"/>
              </a:defRPr>
            </a:pPr>
            <a:r>
              <a:t>🔴 LIVE: https://fe055024.grafana.net  —  Auto-refreshes every 5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OEE — Overall Equipment Effectiveness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508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463040"/>
            <a:ext cx="8503920" cy="9144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554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AF0"/>
                </a:solidFill>
                <a:latin typeface="Calibri"/>
              </a:defRPr>
            </a:pPr>
            <a:r>
              <a:t>OEE  =  Availability  ×  Performance  × 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566160" cy="3749039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292608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alibri"/>
              </a:defRPr>
            </a:pPr>
            <a:r>
              <a:t>Is the machine running?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Planned production time vs actual run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7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Detects unplanned stops automatically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Measured via inter-series gaps (&gt;200ms)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63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Target: ≥ 90%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743200"/>
            <a:ext cx="3566160" cy="3749039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4840" y="2926080"/>
            <a:ext cx="548640" cy="54864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AF0"/>
                </a:solidFill>
                <a:latin typeface="Calibri"/>
              </a:defRPr>
            </a:pPr>
            <a:r>
              <a:t>Is it running at full speed?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Ideal cycle time vs actual cycle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1147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Detects slow cycles via intra-series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80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Measured via pulse timing (avg 52ms ideal)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8463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Target: ≥ 95%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743200"/>
            <a:ext cx="3566160" cy="3749039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5320" y="29260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alibri"/>
              </a:defRPr>
            </a:pPr>
            <a:r>
              <a:t>Are products defect-free?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Good products vs total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1147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Detects anomalous pulse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480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Irregular pulse count = potential defect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463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 Target: ≥ 99%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We Measure OEE — From Sensor to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1148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37160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Proximity/pulse sensor</a:t>
            </a:r>
            <a:br/>
            <a:r>
              <a:t>on machine spindle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554480"/>
            <a:ext cx="137160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IoT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Edge device captures</a:t>
            </a:r>
            <a:br/>
            <a:r>
              <a:t>pulse timestamps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554480"/>
            <a:ext cx="137160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InfluxDB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Time-series database</a:t>
            </a:r>
            <a:br/>
            <a:r>
              <a:t>stores every pulse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554480"/>
            <a:ext cx="137160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Grafana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Real-time dashboard</a:t>
            </a:r>
            <a:br/>
            <a:r>
              <a:t>calculates OEE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1554480"/>
            <a:ext cx="137160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SMS/Email/WhatsApp</a:t>
            </a:r>
            <a:br/>
            <a:r>
              <a:t>when KPI breaches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49039"/>
            <a:ext cx="11247120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AF0"/>
                </a:solidFill>
                <a:latin typeface="Calibri"/>
              </a:defRPr>
            </a:pPr>
            <a:r>
              <a:t>What Our Sensors Capture in Real-Time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  <a:latin typeface="Calibri"/>
              </a:defRPr>
            </a:pPr>
            <a:r>
              <a:t>How It's Measured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  <a:latin typeface="Calibri"/>
              </a:defRPr>
            </a:pPr>
            <a:r>
              <a:t>OEE Component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799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  <a:latin typeface="Calibri"/>
              </a:defRPr>
            </a:pPr>
            <a:r>
              <a:t>Dashboard Panel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72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Intra-Series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672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Time between consecutive pulses (&lt;200ms)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672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799" y="4672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Avg Pulse Gap stat + trend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001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Inter-Series Gap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001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Time between products (≥200ms = material feed)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001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799" y="5001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Avg Feed Gap stat + trend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330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Pulse Count/Product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330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Number of pulses in each series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330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799" y="5330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Pulses Per Product histogram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6601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Products/Minute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6601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Count of inter-series boundaries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56601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799" y="56601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Products Produced stat + trend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9893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Total Throughput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9893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All pulses counted over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59893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799" y="59893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Total Pulses + Live Stream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Supply Chain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Communication  •  Automation  •  Real-Time Goods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Supply Chain Communication &amp;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1148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011680" cy="1371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Raw Material</a:t>
            </a:r>
            <a:br/>
            <a:r>
              <a:t>Supplier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463040"/>
            <a:ext cx="2011680" cy="1371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Manufacturing</a:t>
            </a:r>
            <a:br/>
            <a:r>
              <a:t>Plant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463040"/>
            <a:ext cx="2011680" cy="1371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Warehouse</a:t>
            </a:r>
            <a:br/>
            <a:r>
              <a:t>/ 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0" y="1463040"/>
            <a:ext cx="2011680" cy="1371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Transport</a:t>
            </a:r>
            <a:br/>
            <a:r>
              <a:t>&amp; 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463040"/>
            <a:ext cx="2011680" cy="1371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Retail /</a:t>
            </a:r>
            <a:br/>
            <a:r>
              <a:t>End 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CC71"/>
                </a:solidFill>
                <a:latin typeface="Calibri"/>
              </a:defRPr>
            </a:pPr>
            <a:r>
              <a:t>Automated Communication at Every Node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11880"/>
            <a:ext cx="3474720" cy="20116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📱 Real-Time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Automated SMS, Email &amp; WhatsApp notifications</a:t>
            </a:r>
            <a:br/>
            <a:r>
              <a:t>when goods arrive, depart, or are delayed at any node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3611880"/>
            <a:ext cx="3474720" cy="20116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🔄 EDI / API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1148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Automated purchase orders, invoices, and ASNs</a:t>
            </a:r>
            <a:br/>
            <a:r>
              <a:t>exchanged between supplier ↔ manufacturer ↔ warehouse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3611880"/>
            <a:ext cx="3474720" cy="20116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📊 Unified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41148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Single pane of glass for all supply chain KPIs:</a:t>
            </a:r>
            <a:br/>
            <a:r>
              <a:t>Inventory levels, transit times, delivery accuracy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52160"/>
            <a:ext cx="11247120" cy="7315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AA"/>
                </a:solidFill>
                <a:latin typeface="Calibri"/>
              </a:defRPr>
            </a:pPr>
            <a:r>
              <a:t>🎯 Result: 90% reduction in manual communication  |  75% faster issue resolution  |  99.5% notification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Automated Tracking of Goods —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743200" cy="22860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554480"/>
            <a:ext cx="731520" cy="73152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RFID Tags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88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Passive/active RFID on every</a:t>
            </a:r>
            <a:br/>
            <a:r>
              <a:t>product, pallet &amp; container.</a:t>
            </a:r>
            <a:br/>
            <a:r>
              <a:t>Auto-scanned at gates.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743200" cy="22860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1554480"/>
            <a:ext cx="731520" cy="7315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BLE Beacons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88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Bluetooth Low Energy for</a:t>
            </a:r>
            <a:br/>
            <a:r>
              <a:t>indoor warehouse tracking.</a:t>
            </a:r>
            <a:br/>
            <a:r>
              <a:t>Sub-meter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743200" cy="22860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23760" y="155448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GPS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88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Real-time vehicle &amp; shipment</a:t>
            </a:r>
            <a:br/>
            <a:r>
              <a:t>location during transit.</a:t>
            </a:r>
            <a:br/>
            <a:r>
              <a:t>Geofence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79" y="1371600"/>
            <a:ext cx="2743200" cy="22860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79" y="1554480"/>
            <a:ext cx="731520" cy="731520"/>
          </a:xfrm>
          <a:prstGeom prst="ellipse">
            <a:avLst/>
          </a:prstGeom>
          <a:solidFill>
            <a:srgbClr val="B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39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Vision / Barcode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2788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Camera-based scanning at</a:t>
            </a:r>
            <a:br/>
            <a:r>
              <a:t>loading/unloading docks.</a:t>
            </a:r>
            <a:br/>
            <a:r>
              <a:t>AI defect detection.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🔍  Automated Tracking Journey — No Human Intervention Required</a:t>
            </a:r>
          </a:p>
        </p:txBody>
      </p:sp>
      <p:sp>
        <p:nvSpPr>
          <p:cNvPr id="22" name="Oval 21"/>
          <p:cNvSpPr/>
          <p:nvPr/>
        </p:nvSpPr>
        <p:spPr>
          <a:xfrm>
            <a:off x="1143000" y="4572000"/>
            <a:ext cx="548640" cy="54864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PRODUCED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32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Product tagged with</a:t>
            </a:r>
            <a:br/>
            <a:r>
              <a:t>RFID at production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3383280" y="457200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532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Auto-scanned at</a:t>
            </a:r>
            <a:br/>
            <a:r>
              <a:t>packing station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5623560" y="45720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STORED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532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BLE tracks location</a:t>
            </a:r>
            <a:br/>
            <a:r>
              <a:t>in warehouse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7863840" y="4572000"/>
            <a:ext cx="548640" cy="54864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SHIPPED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5532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GPS tracks vehicle</a:t>
            </a:r>
            <a:br/>
            <a:r>
              <a:t>in real-time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Oval 37"/>
          <p:cNvSpPr/>
          <p:nvPr/>
        </p:nvSpPr>
        <p:spPr>
          <a:xfrm>
            <a:off x="10104120" y="457200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532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Auto-confirmed at</a:t>
            </a:r>
            <a:br/>
            <a:r>
              <a:t>customer dock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08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858000" cy="10058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EDGE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Sensors, RFID, BLE, GPS</a:t>
            </a:r>
            <a:br/>
            <a:r>
              <a:t>IoT Gateways, Edge Computing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6858000" cy="10058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AF0"/>
                </a:solidFill>
                <a:latin typeface="Calibri"/>
              </a:defRPr>
            </a:pPr>
            <a:r>
              <a:t>INGESTION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MQTT / HTTP → InfluxDB</a:t>
            </a:r>
            <a:br/>
            <a:r>
              <a:t>Real-time time-series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6858000" cy="10058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40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ANALYTICS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1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Flux Queries, OEE Calculation</a:t>
            </a:r>
            <a:br/>
            <a:r>
              <a:t>Anomaly Detection, ML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6858000" cy="10058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66FF"/>
                </a:solidFill>
                <a:latin typeface="Calibri"/>
              </a:defRPr>
            </a:pPr>
            <a:r>
              <a:t>VISUALIZATION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49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Grafana Cloud Dashboard</a:t>
            </a:r>
            <a:br/>
            <a:r>
              <a:t>Mobile App, API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371600"/>
            <a:ext cx="4114800" cy="4572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F0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▸  Database: InfluxDB 2.7 (Time-Series)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▸  Dashboard: Grafana Cloud (10.x)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▸  Query: Flux (real-time analytics)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▸  IoT Protocol: MQTT, HTTP/REST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▸  Edge: Python, Node.js, C/Arduino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▸  Tracking: RFID, BLE, GPS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▸  Alerts: Grafana Alerting + Webhooks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▸  Hosting: Docker, Cloud-native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▸  Security: TLS, Token-based 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▸  Integration: REST API, EDI, Webhooks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ROI &amp; 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743200" cy="22860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OEE</a:t>
            </a:r>
            <a:br/>
            <a:r>
              <a:t>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From 60% to 85%+</a:t>
            </a:r>
            <a:br/>
            <a:r>
              <a:t>within 6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63040"/>
            <a:ext cx="2743200" cy="22860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AF0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Downtime</a:t>
            </a:r>
            <a:br/>
            <a:r>
              <a:t>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Predictive alerts</a:t>
            </a:r>
            <a:br/>
            <a:r>
              <a:t>catch issues early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743200" cy="22860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Manual Work</a:t>
            </a:r>
            <a:br/>
            <a:r>
              <a:t>Eliminated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Automated tracking</a:t>
            </a:r>
            <a:br/>
            <a:r>
              <a:t>&amp; communication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79" y="1463040"/>
            <a:ext cx="2743200" cy="22860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79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BB66FF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59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Faster</a:t>
            </a:r>
            <a:br/>
            <a:r>
              <a:t>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Real-time data vs</a:t>
            </a:r>
            <a:br/>
            <a:r>
              <a:t>weekly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11247120" cy="24688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💰  Estimated ROI Timeline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663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663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  <a:latin typeface="Calibri"/>
              </a:defRPr>
            </a:pPr>
            <a:r>
              <a:t>Savings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4663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  <a:latin typeface="Calibri"/>
              </a:defRPr>
            </a:pPr>
            <a:r>
              <a:t>Net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109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Month 1-3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0109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Setup &amp;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0109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10-15% downtime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50109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Foundation laid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58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Month 4-6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358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Tuning &amp;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358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20-25% OEE improvement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59" y="5358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Breaking even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7058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Month 7-12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7058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Scale &amp; automate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7058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40% cost reduction in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57058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2-3x ROI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053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Year 2+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053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Predictive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6053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Continuous improvement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59" y="6053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5-10x ROI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2004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743200" cy="4846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AF0"/>
                </a:solidFill>
                <a:latin typeface="Calibri"/>
              </a:defRPr>
            </a:pPr>
            <a:r>
              <a:t>Phase 1</a:t>
            </a:r>
            <a:br/>
            <a:r>
              <a:t>Weeks 1-4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697480"/>
            <a:ext cx="1280160" cy="254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Install sensors on pilot machines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Deploy InfluxDB + Grafana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Configure basic OEE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Set up alerting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63040"/>
            <a:ext cx="2743200" cy="4846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Phase 2</a:t>
            </a:r>
            <a:br/>
            <a:r>
              <a:t>Weeks 5-8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Supply Chain 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697480"/>
            <a:ext cx="1280160" cy="25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Deploy RFID/BLE at key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Integrate supplier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Automated PO/ASN exchange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434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Goods tracking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63040"/>
            <a:ext cx="2743200" cy="4846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Phase 3</a:t>
            </a:r>
            <a:br/>
            <a:r>
              <a:t>Weeks 9-12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Automation &amp; Scale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697480"/>
            <a:ext cx="12801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Roll out to all machines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GPS tracking for 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Automated reporting &amp; escalation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34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Mobile app for field teams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79" y="1463040"/>
            <a:ext cx="2743200" cy="4846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59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66FF"/>
                </a:solidFill>
                <a:latin typeface="Calibri"/>
              </a:defRPr>
            </a:pPr>
            <a:r>
              <a:t>Phase 4</a:t>
            </a:r>
            <a:br/>
            <a:r>
              <a:t>Ongoing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59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399" y="2697480"/>
            <a:ext cx="1280160" cy="25400"/>
          </a:xfrm>
          <a:prstGeom prst="rect">
            <a:avLst/>
          </a:prstGeom>
          <a:solidFill>
            <a:srgbClr val="B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59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ML-based anomaly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59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Predictive maintenance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59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Demand forecasting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59" y="4434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✓  Continuous improvement loop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554480"/>
            <a:ext cx="2103120" cy="508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2103120"/>
            <a:ext cx="731520" cy="73152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Pilot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4688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Start with 1-2 machines for OEE monitoring</a:t>
            </a:r>
            <a:br/>
            <a:r>
              <a:t>and 1 supply chain route for tracking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566160"/>
            <a:ext cx="731520" cy="7315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474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Proof of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9319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4-week pilot to demonstrate measurable</a:t>
            </a:r>
            <a:br/>
            <a:r>
              <a:t>OEE improvement &amp; tracking accuracy</a:t>
            </a:r>
          </a:p>
        </p:txBody>
      </p:sp>
      <p:sp>
        <p:nvSpPr>
          <p:cNvPr id="10" name="Oval 9"/>
          <p:cNvSpPr/>
          <p:nvPr/>
        </p:nvSpPr>
        <p:spPr>
          <a:xfrm>
            <a:off x="1828800" y="502920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937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Scale &amp;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3949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Roll out across all production lines</a:t>
            </a:r>
            <a:br/>
            <a:r>
              <a:t>and supply chain nodes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669280"/>
            <a:ext cx="6675120" cy="731520"/>
          </a:xfrm>
          <a:prstGeom prst="roundRect">
            <a:avLst/>
          </a:prstGeom>
          <a:solidFill>
            <a:srgbClr val="009AF0"/>
          </a:solidFill>
          <a:ln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57607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📞  Let's Schedule a Live Demo &amp; Pilot Discussion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AF0"/>
                </a:solidFill>
                <a:latin typeface="Calibri"/>
              </a:defRPr>
            </a:pPr>
            <a:r>
              <a:t>Real-Time OEE  •  Smart Supply Chain  •  Automated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114800"/>
            <a:ext cx="3017520" cy="254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AA"/>
                </a:solidFill>
                <a:latin typeface="Calibri"/>
              </a:defRPr>
            </a:pPr>
            <a:r>
              <a:t>Live Dashboard: https://fe055024.grafana.net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Calibri"/>
              </a:defRPr>
            </a:pPr>
            <a:r>
              <a:t>Questions? Let's discuss.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